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2B49"/>
          </a:solidFill>
          <a:ln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6766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300" b="1">
                <a:solidFill>
                  <a:srgbClr val="192B49"/>
                </a:solidFill>
                <a:latin typeface="Microsoft YaHei"/>
              </a:defRPr>
            </a:pPr>
            <a:r>
              <a:t>基于深度学习的代码审查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D66D36"/>
                </a:solidFill>
                <a:latin typeface="Microsoft YaHei"/>
              </a:defRPr>
            </a:pPr>
            <a:r>
              <a:t>范式变革，还是一把双刃剑？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5740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6069"/>
                </a:solidFill>
                <a:latin typeface="Microsoft YaHei"/>
              </a:defRPr>
            </a:pPr>
            <a:r>
              <a:t>论文解读：Deep Learning-based Code Reviews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804672"/>
            <a:ext cx="4160520" cy="19659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itle_abstract_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960120"/>
            <a:ext cx="3840480" cy="1325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2578608"/>
            <a:ext cx="1207008" cy="256032"/>
          </a:xfrm>
          <a:prstGeom prst="roundRect">
            <a:avLst/>
          </a:prstGeom>
          <a:solidFill>
            <a:srgbClr val="223D67"/>
          </a:solidFill>
          <a:ln>
            <a:solidFill>
              <a:srgbClr val="223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90104" y="2606039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论文首页截图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154680"/>
            <a:ext cx="3246120" cy="1325880"/>
          </a:xfrm>
          <a:prstGeom prst="roundRect">
            <a:avLst/>
          </a:prstGeom>
          <a:solidFill>
            <a:srgbClr val="E7F0FA"/>
          </a:solidFill>
          <a:ln w="11430"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92B49"/>
                </a:solidFill>
                <a:latin typeface="Microsoft YaHei"/>
              </a:defRPr>
            </a:pPr>
            <a:r>
              <a:t>这篇论文不是在问：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75887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A1E23"/>
                </a:solidFill>
                <a:latin typeface="Microsoft YaHei"/>
              </a:defRPr>
            </a:pPr>
            <a:r>
              <a:t>AI 能不能 Review 代码？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154680"/>
            <a:ext cx="3474720" cy="1325880"/>
          </a:xfrm>
          <a:prstGeom prst="roundRect">
            <a:avLst/>
          </a:prstGeom>
          <a:solidFill>
            <a:srgbClr val="FCEEE4"/>
          </a:solidFill>
          <a:ln w="11430">
            <a:solidFill>
              <a:srgbClr val="EBD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33375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66D36"/>
                </a:solidFill>
                <a:latin typeface="Microsoft YaHei"/>
              </a:defRPr>
            </a:pPr>
            <a:r>
              <a:t>它真正想问：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675887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A1E23"/>
                </a:solidFill>
                <a:latin typeface="Microsoft YaHei"/>
              </a:defRPr>
            </a:pPr>
            <a:r>
              <a:rPr dirty="0"/>
              <a:t>AI </a:t>
            </a:r>
            <a:r>
              <a:rPr dirty="0" err="1"/>
              <a:t>会如何影响开发者</a:t>
            </a:r>
            <a:r>
              <a:rPr dirty="0"/>
              <a:t>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154680"/>
            <a:ext cx="306324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333756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92B49"/>
                </a:solidFill>
                <a:latin typeface="Microsoft YaHei"/>
              </a:defRPr>
            </a:pPr>
            <a:r>
              <a:t>汇报重点：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675887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A1E23"/>
                </a:solidFill>
                <a:latin typeface="Microsoft YaHei"/>
              </a:defRPr>
            </a:pPr>
            <a:r>
              <a:t>为什么它能发 Top？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5532120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A6069"/>
                </a:solidFill>
                <a:latin typeface="Microsoft YaHei"/>
              </a:defRPr>
            </a:pPr>
            <a:r>
              <a:rPr dirty="0" err="1"/>
              <a:t>汇报思路：背景</a:t>
            </a:r>
            <a:r>
              <a:rPr dirty="0"/>
              <a:t> → </a:t>
            </a:r>
            <a:r>
              <a:rPr dirty="0" err="1"/>
              <a:t>实验设计</a:t>
            </a:r>
            <a:r>
              <a:rPr dirty="0"/>
              <a:t> → </a:t>
            </a:r>
            <a:r>
              <a:rPr dirty="0" err="1"/>
              <a:t>五个发现</a:t>
            </a:r>
            <a:r>
              <a:rPr dirty="0"/>
              <a:t> → </a:t>
            </a:r>
            <a:r>
              <a:rPr dirty="0" err="1"/>
              <a:t>方法价值</a:t>
            </a:r>
            <a:r>
              <a:rPr dirty="0"/>
              <a:t> → </a:t>
            </a:r>
            <a:r>
              <a:rPr dirty="0" err="1"/>
              <a:t>我的理解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411480" y="644652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069"/>
                </a:solidFill>
                <a:latin typeface="Microsoft YaHei"/>
              </a:defRPr>
            </a:pPr>
            <a:r>
              <a:t>Deep Learning-based Code Reviews：范式变革还是双刃剑？ · 论文汇报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2B49"/>
          </a:solidFill>
          <a:ln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9"/>
                </a:solidFill>
                <a:latin typeface="Microsoft YaHei"/>
              </a:defRPr>
            </a:pPr>
            <a:r>
              <a:t>先给结论：这篇论文讲什么？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9"/>
                </a:solidFill>
                <a:latin typeface="Microsoft YaHei"/>
              </a:defRPr>
            </a:pPr>
            <a:r>
              <a:t>一句话：AI 不只是“帮忙找 Bug”，它会改变开发者的注意力、判断和工作方式。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120640" cy="4343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92B49"/>
                </a:solidFill>
                <a:latin typeface="Microsoft YaHei"/>
              </a:defRPr>
            </a:pPr>
            <a:r>
              <a:t>论文的核心转向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5262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650">
                <a:solidFill>
                  <a:srgbClr val="1A1E23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传统研究：测</a:t>
            </a:r>
            <a:r>
              <a:rPr dirty="0"/>
              <a:t> AI </a:t>
            </a:r>
            <a:r>
              <a:rPr dirty="0" err="1"/>
              <a:t>的准确率、召回率、生成质量</a:t>
            </a:r>
            <a:r>
              <a:rPr lang="zh-CN" altLang="en-US" dirty="0"/>
              <a:t>。</a:t>
            </a:r>
            <a:endParaRPr dirty="0"/>
          </a:p>
          <a:p>
            <a:pPr>
              <a:spcAft>
                <a:spcPts val="700"/>
              </a:spcAft>
              <a:defRPr sz="1650">
                <a:solidFill>
                  <a:srgbClr val="1A1E23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这篇论文：把</a:t>
            </a:r>
            <a:r>
              <a:rPr dirty="0"/>
              <a:t> AI </a:t>
            </a:r>
            <a:r>
              <a:rPr dirty="0" err="1"/>
              <a:t>放入真实</a:t>
            </a:r>
            <a:r>
              <a:rPr dirty="0"/>
              <a:t> Review </a:t>
            </a:r>
            <a:r>
              <a:rPr dirty="0" err="1"/>
              <a:t>流程，看人类行为如何变化</a:t>
            </a:r>
            <a:r>
              <a:rPr dirty="0"/>
              <a:t>。</a:t>
            </a:r>
          </a:p>
          <a:p>
            <a:pPr>
              <a:spcAft>
                <a:spcPts val="700"/>
              </a:spcAft>
              <a:defRPr sz="1650">
                <a:solidFill>
                  <a:srgbClr val="1A1E23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所以它不是单纯的模型论文，而是软件工程</a:t>
            </a:r>
            <a:r>
              <a:rPr dirty="0"/>
              <a:t> + </a:t>
            </a:r>
            <a:r>
              <a:rPr dirty="0" err="1"/>
              <a:t>人机协同研究</a:t>
            </a:r>
            <a:r>
              <a:rPr dirty="0"/>
              <a:t>。</a:t>
            </a:r>
          </a:p>
          <a:p>
            <a:pPr>
              <a:spcAft>
                <a:spcPts val="700"/>
              </a:spcAft>
              <a:defRPr sz="1650">
                <a:solidFill>
                  <a:srgbClr val="1A1E23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核心问题：AI</a:t>
            </a:r>
            <a:r>
              <a:rPr dirty="0"/>
              <a:t> </a:t>
            </a:r>
            <a:r>
              <a:rPr dirty="0" err="1"/>
              <a:t>辅助是否真的提升质量、节省时间、增强信心</a:t>
            </a:r>
            <a:r>
              <a:rPr dirty="0"/>
              <a:t>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325880"/>
            <a:ext cx="4617720" cy="1170432"/>
          </a:xfrm>
          <a:prstGeom prst="roundRect">
            <a:avLst/>
          </a:prstGeom>
          <a:solidFill>
            <a:srgbClr val="E7F0FA"/>
          </a:solidFill>
          <a:ln w="1143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1572768"/>
            <a:ext cx="4069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92B49"/>
                </a:solidFill>
                <a:latin typeface="Microsoft YaHei"/>
              </a:defRPr>
            </a:pPr>
            <a:r>
              <a:t>我读到的关键：作者最担心的不是 AI 犯错，而是人类因为 AI 而停止主动探索。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999232"/>
            <a:ext cx="4251960" cy="502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3072384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A1E23"/>
                </a:solidFill>
                <a:latin typeface="Microsoft YaHei"/>
              </a:defRPr>
            </a:pPr>
            <a:r>
              <a:t>AI 给出建议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3822191"/>
            <a:ext cx="4251960" cy="502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3895344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A1E23"/>
                </a:solidFill>
                <a:latin typeface="Microsoft YaHei"/>
              </a:defRPr>
            </a:pPr>
            <a:r>
              <a:t>开发者先看 AI 标注处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4645152"/>
            <a:ext cx="4251960" cy="502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4718304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A1E23"/>
                </a:solidFill>
                <a:latin typeface="Microsoft YaHei"/>
              </a:defRPr>
            </a:pPr>
            <a:r>
              <a:t>其它区域被忽略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32520" y="3502152"/>
            <a:ext cx="0" cy="320039"/>
          </a:xfrm>
          <a:prstGeom prst="line">
            <a:avLst/>
          </a:prstGeom>
          <a:ln w="22860">
            <a:solidFill>
              <a:srgbClr val="D66D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32520" y="4325112"/>
            <a:ext cx="0" cy="320040"/>
          </a:xfrm>
          <a:prstGeom prst="line">
            <a:avLst/>
          </a:prstGeom>
          <a:ln w="22860">
            <a:solidFill>
              <a:srgbClr val="D66D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29984" y="5486399"/>
            <a:ext cx="3012532" cy="349135"/>
          </a:xfrm>
          <a:prstGeom prst="round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84848" y="5513832"/>
            <a:ext cx="29576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这就是</a:t>
            </a:r>
            <a:r>
              <a:rPr dirty="0"/>
              <a:t> Blind Spot Effect </a:t>
            </a:r>
            <a:r>
              <a:rPr dirty="0" err="1"/>
              <a:t>的直觉来源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411480" y="644652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069"/>
                </a:solidFill>
                <a:latin typeface="Microsoft YaHei"/>
              </a:defRPr>
            </a:pPr>
            <a:r>
              <a:t>Deep Learning-based Code Reviews：范式变革还是双刃剑？ · 论文汇报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2B49"/>
          </a:solidFill>
          <a:ln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9"/>
                </a:solidFill>
                <a:latin typeface="Microsoft YaHei"/>
              </a:defRPr>
            </a:pPr>
            <a:r>
              <a:t>研究背景：为什么 Code Review 重要？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9"/>
                </a:solidFill>
                <a:latin typeface="Microsoft YaHei"/>
              </a:defRPr>
            </a:pPr>
            <a:r>
              <a:t>Code Review 是软件质量控制的重要环节，但它本身也很耗费人力。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074920" cy="45262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270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92B49"/>
                </a:solidFill>
                <a:latin typeface="Microsoft YaHei"/>
              </a:defRPr>
            </a:pPr>
            <a:r>
              <a:t>传统代码审查的作用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448056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650">
                <a:solidFill>
                  <a:srgbClr val="1A1E23"/>
                </a:solidFill>
                <a:latin typeface="Microsoft YaHei"/>
              </a:defRPr>
            </a:pPr>
            <a:r>
              <a:t>• 发现潜在 Bug 和逻辑缺陷</a:t>
            </a:r>
          </a:p>
          <a:p>
            <a:pPr>
              <a:spcAft>
                <a:spcPts val="700"/>
              </a:spcAft>
              <a:defRPr sz="1650">
                <a:solidFill>
                  <a:srgbClr val="1A1E23"/>
                </a:solidFill>
                <a:latin typeface="Microsoft YaHei"/>
              </a:defRPr>
            </a:pPr>
            <a:r>
              <a:t>• 检查代码可维护性与规范性</a:t>
            </a:r>
          </a:p>
          <a:p>
            <a:pPr>
              <a:spcAft>
                <a:spcPts val="700"/>
              </a:spcAft>
              <a:defRPr sz="1650">
                <a:solidFill>
                  <a:srgbClr val="1A1E23"/>
                </a:solidFill>
                <a:latin typeface="Microsoft YaHei"/>
              </a:defRPr>
            </a:pPr>
            <a:r>
              <a:t>• 让团队成员共享代码知识</a:t>
            </a:r>
          </a:p>
          <a:p>
            <a:pPr>
              <a:spcAft>
                <a:spcPts val="700"/>
              </a:spcAft>
              <a:defRPr sz="1650">
                <a:solidFill>
                  <a:srgbClr val="1A1E23"/>
                </a:solidFill>
                <a:latin typeface="Microsoft YaHei"/>
              </a:defRPr>
            </a:pPr>
            <a:r>
              <a:t>• 在代码合并前进行质量把关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343400"/>
            <a:ext cx="4480560" cy="914400"/>
          </a:xfrm>
          <a:prstGeom prst="roundRect">
            <a:avLst/>
          </a:prstGeom>
          <a:solidFill>
            <a:srgbClr val="FCEEE4"/>
          </a:solidFill>
          <a:ln w="11430">
            <a:solidFill>
              <a:srgbClr val="E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553712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D66D36"/>
                </a:solidFill>
                <a:latin typeface="Microsoft YaHei"/>
              </a:defRPr>
            </a:pPr>
            <a:r>
              <a:rPr dirty="0" err="1"/>
              <a:t>问题：耗时、成本高、容易受疲劳与经验影响</a:t>
            </a:r>
            <a:r>
              <a:rPr dirty="0"/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234440"/>
            <a:ext cx="4617720" cy="45262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1536192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92B49"/>
                </a:solidFill>
                <a:latin typeface="Microsoft YaHei"/>
              </a:defRPr>
            </a:pPr>
            <a:r>
              <a:t>为什么 AI 会进入这个流程？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148840"/>
            <a:ext cx="1051560" cy="640080"/>
          </a:xfrm>
          <a:prstGeom prst="roundRect">
            <a:avLst/>
          </a:prstGeom>
          <a:solidFill>
            <a:srgbClr val="E7F0FA"/>
          </a:solidFill>
          <a:ln w="1143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85432" y="2331720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92B49"/>
                </a:solidFill>
                <a:latin typeface="Microsoft YaHei"/>
              </a:defRPr>
            </a:pPr>
            <a:r>
              <a:t>提交代码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148840"/>
            <a:ext cx="1051560" cy="640080"/>
          </a:xfrm>
          <a:prstGeom prst="roundRect">
            <a:avLst/>
          </a:prstGeom>
          <a:solidFill>
            <a:srgbClr val="E7F0FA"/>
          </a:solidFill>
          <a:ln w="1143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1" y="2331720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92B49"/>
                </a:solidFill>
                <a:latin typeface="Microsoft YaHei"/>
              </a:defRPr>
            </a:pPr>
            <a:r>
              <a:t>人工审查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2148840"/>
            <a:ext cx="1051560" cy="640080"/>
          </a:xfrm>
          <a:prstGeom prst="roundRect">
            <a:avLst/>
          </a:prstGeom>
          <a:solidFill>
            <a:srgbClr val="E7F0FA"/>
          </a:solidFill>
          <a:ln w="1143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28632" y="2331720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92B49"/>
                </a:solidFill>
                <a:latin typeface="Microsoft YaHei"/>
              </a:defRPr>
            </a:pPr>
            <a:r>
              <a:t>合并代码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63840" y="2468880"/>
            <a:ext cx="320039" cy="0"/>
          </a:xfrm>
          <a:prstGeom prst="line">
            <a:avLst/>
          </a:prstGeom>
          <a:ln w="22860">
            <a:solidFill>
              <a:srgbClr val="223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235440" y="2468880"/>
            <a:ext cx="320040" cy="0"/>
          </a:xfrm>
          <a:prstGeom prst="line">
            <a:avLst/>
          </a:prstGeom>
          <a:ln w="22860">
            <a:solidFill>
              <a:srgbClr val="223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845552" y="3429000"/>
            <a:ext cx="1828800" cy="658368"/>
          </a:xfrm>
          <a:prstGeom prst="roundRect">
            <a:avLst/>
          </a:prstGeom>
          <a:solidFill>
            <a:srgbClr val="FCEEE4"/>
          </a:solidFill>
          <a:ln w="11430">
            <a:solidFill>
              <a:srgbClr val="EE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73568" y="3621024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66D36"/>
                </a:solidFill>
                <a:latin typeface="Microsoft YaHei"/>
              </a:defRPr>
            </a:pPr>
            <a:r>
              <a:t>AI Review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8759952" y="2798064"/>
            <a:ext cx="0" cy="630936"/>
          </a:xfrm>
          <a:prstGeom prst="line">
            <a:avLst/>
          </a:prstGeom>
          <a:ln w="22860">
            <a:solidFill>
              <a:srgbClr val="D66D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03720" y="4480560"/>
            <a:ext cx="3886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A1E23"/>
                </a:solidFill>
                <a:latin typeface="Microsoft YaHei"/>
              </a:defRPr>
            </a:pPr>
            <a:r>
              <a:rPr dirty="0" err="1"/>
              <a:t>作者的问题：当</a:t>
            </a:r>
            <a:r>
              <a:rPr dirty="0"/>
              <a:t> AI </a:t>
            </a:r>
            <a:r>
              <a:rPr dirty="0" err="1"/>
              <a:t>作为“起点”介入后，开发者是更独立，还是更依赖</a:t>
            </a:r>
            <a:r>
              <a:rPr dirty="0"/>
              <a:t>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4652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069"/>
                </a:solidFill>
                <a:latin typeface="Microsoft YaHei"/>
              </a:defRPr>
            </a:pPr>
            <a:r>
              <a:t>Deep Learning-based Code Reviews：范式变革还是双刃剑？ · 论文汇报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2B49"/>
          </a:solidFill>
          <a:ln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9"/>
                </a:solidFill>
                <a:latin typeface="Microsoft YaHei"/>
              </a:defRPr>
            </a:pPr>
            <a:r>
              <a:t>研究空白：不是只看 AI 准不准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9"/>
                </a:solidFill>
                <a:latin typeface="Microsoft YaHei"/>
              </a:defRPr>
            </a:pPr>
            <a:r>
              <a:t>这篇论文的价值在于，它把问题从“模型能力”推进到了“人类行为影响”。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" y="1307176"/>
            <a:ext cx="5166360" cy="4389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92B49"/>
                </a:solidFill>
                <a:latin typeface="Microsoft YaHei"/>
              </a:defRPr>
            </a:pPr>
            <a:r>
              <a:t>很多自动化 Code Review 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02872"/>
            <a:ext cx="438912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620">
                <a:solidFill>
                  <a:srgbClr val="1A1E23"/>
                </a:solidFill>
                <a:latin typeface="Microsoft YaHei"/>
              </a:defRPr>
            </a:pPr>
            <a:r>
              <a:t>• 评估生成评论是否准确</a:t>
            </a:r>
          </a:p>
          <a:p>
            <a:pPr>
              <a:spcAft>
                <a:spcPts val="700"/>
              </a:spcAft>
              <a:defRPr sz="1620">
                <a:solidFill>
                  <a:srgbClr val="1A1E23"/>
                </a:solidFill>
                <a:latin typeface="Microsoft YaHei"/>
              </a:defRPr>
            </a:pPr>
            <a:r>
              <a:t>• 比较模型指标，如 Precision / Recall</a:t>
            </a:r>
          </a:p>
          <a:p>
            <a:pPr>
              <a:spcAft>
                <a:spcPts val="700"/>
              </a:spcAft>
              <a:defRPr sz="1620">
                <a:solidFill>
                  <a:srgbClr val="1A1E23"/>
                </a:solidFill>
                <a:latin typeface="Microsoft YaHei"/>
              </a:defRPr>
            </a:pPr>
            <a:r>
              <a:t>• 关注 AI 本身的能力提升</a:t>
            </a:r>
          </a:p>
          <a:p>
            <a:pPr>
              <a:spcAft>
                <a:spcPts val="700"/>
              </a:spcAft>
              <a:defRPr sz="1620">
                <a:solidFill>
                  <a:srgbClr val="1A1E23"/>
                </a:solidFill>
                <a:latin typeface="Microsoft YaHei"/>
              </a:defRPr>
            </a:pPr>
            <a:r>
              <a:t>• 较少观察开发者如何使用这些评论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074920" cy="4389120"/>
          </a:xfrm>
          <a:prstGeom prst="roundRect">
            <a:avLst/>
          </a:prstGeom>
          <a:solidFill>
            <a:srgbClr val="E7F0FA"/>
          </a:solidFill>
          <a:ln w="1143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160020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92B49"/>
                </a:solidFill>
                <a:latin typeface="Microsoft YaHei"/>
              </a:defRPr>
            </a:pPr>
            <a:r>
              <a:t>这篇论文的切入点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48840"/>
            <a:ext cx="438912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620">
                <a:solidFill>
                  <a:srgbClr val="1A1E23"/>
                </a:solidFill>
                <a:latin typeface="Microsoft YaHei"/>
              </a:defRPr>
            </a:pPr>
            <a:r>
              <a:rPr dirty="0"/>
              <a:t>• 把 AI </a:t>
            </a:r>
            <a:r>
              <a:rPr dirty="0" err="1"/>
              <a:t>评论作为</a:t>
            </a:r>
            <a:r>
              <a:rPr dirty="0"/>
              <a:t> Review </a:t>
            </a:r>
            <a:r>
              <a:rPr dirty="0" err="1"/>
              <a:t>起点</a:t>
            </a:r>
            <a:endParaRPr dirty="0"/>
          </a:p>
          <a:p>
            <a:pPr>
              <a:spcAft>
                <a:spcPts val="700"/>
              </a:spcAft>
              <a:defRPr sz="1620">
                <a:solidFill>
                  <a:srgbClr val="1A1E23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观察开发者最终保留了什么</a:t>
            </a:r>
            <a:endParaRPr dirty="0"/>
          </a:p>
          <a:p>
            <a:pPr>
              <a:spcAft>
                <a:spcPts val="700"/>
              </a:spcAft>
              <a:defRPr sz="1620">
                <a:solidFill>
                  <a:srgbClr val="1A1E23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记录开发者看代码和写评论的时间</a:t>
            </a:r>
            <a:endParaRPr dirty="0"/>
          </a:p>
          <a:p>
            <a:pPr>
              <a:spcAft>
                <a:spcPts val="700"/>
              </a:spcAft>
              <a:defRPr sz="1620">
                <a:solidFill>
                  <a:srgbClr val="1A1E23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比较质量、成本和信心的变化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4305993" y="5872526"/>
            <a:ext cx="3191255" cy="325028"/>
          </a:xfrm>
          <a:prstGeom prst="round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05993" y="5873011"/>
            <a:ext cx="319125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从 AI Benchmark → Human-AI Collaboration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069"/>
                </a:solidFill>
                <a:latin typeface="Microsoft YaHei"/>
              </a:defRPr>
            </a:pPr>
            <a:r>
              <a:t>Deep Learning-based Code Reviews：范式变革还是双刃剑？ · 论文汇报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2B49"/>
          </a:solidFill>
          <a:ln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9"/>
                </a:solidFill>
                <a:latin typeface="Microsoft YaHei"/>
              </a:defRPr>
            </a:pPr>
            <a:r>
              <a:t>论文研究问题：三个指标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9"/>
                </a:solidFill>
                <a:latin typeface="Microsoft YaHei"/>
              </a:defRPr>
            </a:pPr>
            <a:r>
              <a:t>作者把“AI 是否有用”拆成质量、时间、信心三个可观察维度。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154680" cy="37947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1560" y="1874519"/>
            <a:ext cx="1207008" cy="256032"/>
          </a:xfrm>
          <a:prstGeom prst="roundRect">
            <a:avLst/>
          </a:prstGeom>
          <a:solidFill>
            <a:srgbClr val="3D81C6"/>
          </a:solidFill>
          <a:ln>
            <a:solidFill>
              <a:srgbClr val="3D8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" y="1901951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RQ1：质量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423160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A1E23"/>
                </a:solidFill>
                <a:latin typeface="Microsoft YaHei"/>
              </a:defRPr>
            </a:pPr>
            <a:r>
              <a:rPr dirty="0"/>
              <a:t>AI </a:t>
            </a:r>
            <a:r>
              <a:rPr dirty="0" err="1"/>
              <a:t>辅助后，开发者能否发现更多代码质量问题</a:t>
            </a:r>
            <a:r>
              <a:rPr dirty="0"/>
              <a:t>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79476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0">
                <a:solidFill>
                  <a:srgbClr val="5A6069"/>
                </a:solidFill>
                <a:latin typeface="Microsoft YaHei"/>
              </a:defRPr>
            </a:pPr>
            <a:r>
              <a:rPr dirty="0" err="1"/>
              <a:t>尤其是高严重度问题是否增加</a:t>
            </a:r>
            <a:r>
              <a:rPr dirty="0"/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554480"/>
            <a:ext cx="3154680" cy="37947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754880" y="1874519"/>
            <a:ext cx="1207008" cy="256032"/>
          </a:xfrm>
          <a:prstGeom prst="round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9744" y="1901951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RQ2：成本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423160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A1E23"/>
                </a:solidFill>
                <a:latin typeface="Microsoft YaHei"/>
              </a:defRPr>
            </a:pPr>
            <a:r>
              <a:t>AI 是否能减少开发者 Review 所花时间？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379476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0">
                <a:solidFill>
                  <a:srgbClr val="5A6069"/>
                </a:solidFill>
                <a:latin typeface="Microsoft YaHei"/>
              </a:defRPr>
            </a:pPr>
            <a:r>
              <a:t>包括整体时间、看代码时间、写评论时间。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154680" cy="37947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58200" y="1874519"/>
            <a:ext cx="1207008" cy="256032"/>
          </a:xfrm>
          <a:prstGeom prst="roundRect">
            <a:avLst/>
          </a:prstGeom>
          <a:solidFill>
            <a:srgbClr val="408E63"/>
          </a:solidFill>
          <a:ln>
            <a:solidFill>
              <a:srgbClr val="408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13064" y="1901951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RQ3：信心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423160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A1E23"/>
                </a:solidFill>
                <a:latin typeface="Microsoft YaHei"/>
              </a:defRPr>
            </a:pPr>
            <a:r>
              <a:rPr dirty="0"/>
              <a:t>AI </a:t>
            </a:r>
            <a:r>
              <a:rPr dirty="0" err="1"/>
              <a:t>是否提高开发者对最终</a:t>
            </a:r>
            <a:r>
              <a:rPr dirty="0"/>
              <a:t> Review </a:t>
            </a:r>
            <a:r>
              <a:rPr dirty="0" err="1"/>
              <a:t>的信心</a:t>
            </a:r>
            <a:r>
              <a:rPr dirty="0"/>
              <a:t>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379476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0">
                <a:solidFill>
                  <a:srgbClr val="5A6069"/>
                </a:solidFill>
                <a:latin typeface="Microsoft YaHei"/>
              </a:defRPr>
            </a:pPr>
            <a:r>
              <a:rPr dirty="0" err="1"/>
              <a:t>信心不是“相信</a:t>
            </a:r>
            <a:r>
              <a:rPr dirty="0"/>
              <a:t> AI”，</a:t>
            </a:r>
            <a:r>
              <a:rPr dirty="0" err="1"/>
              <a:t>而是“理解代码</a:t>
            </a:r>
            <a:r>
              <a:rPr lang="zh-CN" altLang="en-US" dirty="0"/>
              <a:t>”</a:t>
            </a:r>
            <a:r>
              <a:rPr dirty="0"/>
              <a:t>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5669280"/>
            <a:ext cx="8961120" cy="502920"/>
          </a:xfrm>
          <a:prstGeom prst="roundRect">
            <a:avLst/>
          </a:prstGeom>
          <a:solidFill>
            <a:srgbClr val="FCEEE4"/>
          </a:solidFill>
          <a:ln w="11430">
            <a:solidFill>
              <a:srgbClr val="EE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74519" y="5788152"/>
            <a:ext cx="8503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50" b="1">
                <a:solidFill>
                  <a:srgbClr val="D66D36"/>
                </a:solidFill>
                <a:latin typeface="Microsoft YaHei"/>
              </a:defRPr>
            </a:pPr>
            <a:r>
              <a:t>这三个问题对应论文的核心结论：AI 增加数量，但没有明显提升高危问题、时间和信心。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4652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069"/>
                </a:solidFill>
                <a:latin typeface="Microsoft YaHei"/>
              </a:defRPr>
            </a:pPr>
            <a:r>
              <a:t>Deep Learning-based Code Reviews：范式变革还是双刃剑？ · 论文汇报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2B49"/>
          </a:solidFill>
          <a:ln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9"/>
                </a:solidFill>
                <a:latin typeface="Microsoft YaHei"/>
              </a:defRPr>
            </a:pPr>
            <a:r>
              <a:t>实验设计：真实开发者 + 人工注入问题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9"/>
                </a:solidFill>
                <a:latin typeface="Microsoft YaHei"/>
              </a:defRPr>
            </a:pPr>
            <a:r>
              <a:t>这也是论文比较“硬”的地方：不是单纯跑模型，而是做受控实验。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331720" cy="11247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581912"/>
            <a:ext cx="777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3D81C6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1645920"/>
            <a:ext cx="1234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A1E23"/>
                </a:solidFill>
                <a:latin typeface="Microsoft YaHei"/>
              </a:defRPr>
            </a:pPr>
            <a:r>
              <a:t>专业开发者</a:t>
            </a:r>
            <a:br/>
            <a:r>
              <a:t>平均 11.4 年经验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417320"/>
            <a:ext cx="2331720" cy="11247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47872" y="1581912"/>
            <a:ext cx="777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408E63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1645920"/>
            <a:ext cx="1234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A1E23"/>
                </a:solidFill>
                <a:latin typeface="Microsoft YaHei"/>
              </a:defRPr>
            </a:pPr>
            <a:r>
              <a:t>Java / Python 项目</a:t>
            </a:r>
            <a:br/>
            <a:r>
              <a:t>来自 Rosetta / Apache 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98648"/>
            <a:ext cx="2331720" cy="11247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3063240"/>
            <a:ext cx="777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D66D36"/>
                </a:solidFill>
                <a:latin typeface="Microsoft YaHei"/>
              </a:defRPr>
            </a:pPr>
            <a:r>
              <a:t>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8488" y="3127248"/>
            <a:ext cx="1234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A1E23"/>
                </a:solidFill>
                <a:latin typeface="Microsoft YaHei"/>
              </a:defRPr>
            </a:pPr>
            <a:r>
              <a:t>人工注入代码问题</a:t>
            </a:r>
            <a:br/>
            <a:r>
              <a:t>覆盖不同严重度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898648"/>
            <a:ext cx="2331720" cy="11247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47872" y="3063240"/>
            <a:ext cx="777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BE4A44"/>
                </a:solidFill>
                <a:latin typeface="Microsoft YaHei"/>
              </a:defRPr>
            </a:pPr>
            <a:r>
              <a:t>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3127248"/>
            <a:ext cx="1234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A1E23"/>
                </a:solidFill>
                <a:latin typeface="Microsoft YaHei"/>
              </a:defRPr>
            </a:pPr>
            <a:r>
              <a:rPr dirty="0" err="1"/>
              <a:t>最终纳入分析的</a:t>
            </a:r>
            <a:r>
              <a:rPr dirty="0"/>
              <a:t> Review</a:t>
            </a:r>
            <a:br>
              <a:rPr dirty="0"/>
            </a:br>
            <a:r>
              <a:rPr dirty="0" err="1"/>
              <a:t>三种模式均衡比较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6263640" y="1143000"/>
            <a:ext cx="5074920" cy="4434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138" y="1700784"/>
            <a:ext cx="4663440" cy="273528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73952" y="1472184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>
                <a:solidFill>
                  <a:srgbClr val="5A6069"/>
                </a:solidFill>
                <a:latin typeface="Microsoft YaHei"/>
              </a:defRPr>
            </a:pPr>
            <a:r>
              <a:t>论文 Table I：12 个对象程序与注入问题数量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709160"/>
            <a:ext cx="5029200" cy="868680"/>
          </a:xfrm>
          <a:prstGeom prst="roundRect">
            <a:avLst/>
          </a:prstGeom>
          <a:solidFill>
            <a:srgbClr val="E7F0FA"/>
          </a:solidFill>
          <a:ln w="1143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399" y="4910328"/>
            <a:ext cx="4721629" cy="56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30" b="1">
                <a:solidFill>
                  <a:srgbClr val="192B49"/>
                </a:solidFill>
                <a:latin typeface="Microsoft YaHei"/>
              </a:defRPr>
            </a:pPr>
            <a:r>
              <a:rPr dirty="0"/>
              <a:t>我认为这个设计的重点：作者先控制代码中的“</a:t>
            </a:r>
            <a:r>
              <a:rPr dirty="0" err="1"/>
              <a:t>真实问题</a:t>
            </a:r>
            <a:r>
              <a:rPr dirty="0"/>
              <a:t>”，</a:t>
            </a:r>
            <a:r>
              <a:rPr dirty="0" err="1"/>
              <a:t>再观察不同</a:t>
            </a:r>
            <a:r>
              <a:rPr dirty="0"/>
              <a:t> Review </a:t>
            </a:r>
            <a:r>
              <a:rPr dirty="0" err="1"/>
              <a:t>模式是否能找到它们</a:t>
            </a:r>
            <a:r>
              <a:rPr dirty="0"/>
              <a:t>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4652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069"/>
                </a:solidFill>
                <a:latin typeface="Microsoft YaHei"/>
              </a:defRPr>
            </a:pPr>
            <a:r>
              <a:t>Deep Learning-based Code Reviews：范式变革还是双刃剑？ · 论文汇报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2B49"/>
          </a:solidFill>
          <a:ln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9"/>
                </a:solidFill>
                <a:latin typeface="Microsoft YaHei"/>
              </a:defRPr>
            </a:pPr>
            <a:r>
              <a:t>三种实验组：MCR、ACR、CCR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9"/>
                </a:solidFill>
                <a:latin typeface="Microsoft YaHei"/>
              </a:defRPr>
            </a:pPr>
            <a:r>
              <a:t>CCR 是论文中最巧妙的设计，它用于测试“理想 AI”下人的信任行为。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37560" cy="42519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41832" y="1627632"/>
            <a:ext cx="603504" cy="256032"/>
          </a:xfrm>
          <a:prstGeom prst="roundRect">
            <a:avLst/>
          </a:prstGeom>
          <a:solidFill>
            <a:srgbClr val="223D67"/>
          </a:solidFill>
          <a:ln>
            <a:solidFill>
              <a:srgbClr val="223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6696" y="1655064"/>
            <a:ext cx="4937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MCR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84831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A1E23"/>
                </a:solidFill>
                <a:latin typeface="Microsoft YaHei"/>
              </a:defRPr>
            </a:pPr>
            <a:r>
              <a:rPr dirty="0" err="1"/>
              <a:t>纯人工</a:t>
            </a:r>
            <a:r>
              <a:rPr dirty="0"/>
              <a:t>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5A6069"/>
                </a:solidFill>
                <a:latin typeface="Microsoft YaHei"/>
              </a:defRPr>
            </a:pPr>
            <a:r>
              <a:rPr dirty="0" err="1"/>
              <a:t>没有</a:t>
            </a:r>
            <a:r>
              <a:rPr dirty="0"/>
              <a:t> AI </a:t>
            </a:r>
            <a:r>
              <a:rPr dirty="0" err="1"/>
              <a:t>辅助</a:t>
            </a:r>
            <a:br>
              <a:rPr dirty="0"/>
            </a:br>
            <a:r>
              <a:rPr dirty="0" err="1"/>
              <a:t>作为对照组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960120" y="4343400"/>
            <a:ext cx="2788920" cy="685800"/>
          </a:xfrm>
          <a:prstGeom prst="roundRect">
            <a:avLst/>
          </a:prstGeom>
          <a:solidFill>
            <a:srgbClr val="E7F0FA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4526280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192B49"/>
                </a:solidFill>
                <a:latin typeface="Microsoft YaHei"/>
              </a:defRPr>
            </a:pPr>
            <a:r>
              <a:t>经典代码审查场景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325880"/>
            <a:ext cx="3337560" cy="42519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36592" y="1627632"/>
            <a:ext cx="603504" cy="256032"/>
          </a:xfrm>
          <a:prstGeom prst="roundRect">
            <a:avLst/>
          </a:prstGeom>
          <a:solidFill>
            <a:srgbClr val="3D81C6"/>
          </a:solidFill>
          <a:ln>
            <a:solidFill>
              <a:srgbClr val="3D8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91456" y="1655064"/>
            <a:ext cx="4937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ACR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084831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A1E23"/>
                </a:solidFill>
                <a:latin typeface="Microsoft YaHei"/>
              </a:defRPr>
            </a:pPr>
            <a:r>
              <a:t>ChatGPT 辅助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606040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5A6069"/>
                </a:solidFill>
                <a:latin typeface="Microsoft YaHei"/>
              </a:defRPr>
            </a:pPr>
            <a:r>
              <a:t>先给出 GPT-4 生成的评论</a:t>
            </a:r>
            <a:br/>
            <a:r>
              <a:t>开发者可保留/修改/删除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4343400"/>
            <a:ext cx="2788920" cy="685800"/>
          </a:xfrm>
          <a:prstGeom prst="roundRect">
            <a:avLst/>
          </a:prstGeom>
          <a:solidFill>
            <a:srgbClr val="E7F0FA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40" y="4526280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3D81C6"/>
                </a:solidFill>
                <a:latin typeface="Microsoft YaHei"/>
              </a:defRPr>
            </a:pPr>
            <a:r>
              <a:t>接近当前工业界使用方式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1325880"/>
            <a:ext cx="3337560" cy="42519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531352" y="1627632"/>
            <a:ext cx="603504" cy="256032"/>
          </a:xfrm>
          <a:prstGeom prst="round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86216" y="1655064"/>
            <a:ext cx="4937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CCR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084831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A1E23"/>
                </a:solidFill>
                <a:latin typeface="Microsoft YaHei"/>
              </a:defRPr>
            </a:pPr>
            <a:r>
              <a:t>理想化“完美 AI”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606040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5A6069"/>
                </a:solidFill>
                <a:latin typeface="Microsoft YaHei"/>
              </a:defRPr>
            </a:pPr>
            <a:r>
              <a:rPr dirty="0" err="1"/>
              <a:t>作者人工写出能覆盖所有注入问题的评论</a:t>
            </a:r>
            <a:br>
              <a:rPr dirty="0"/>
            </a:br>
            <a:r>
              <a:rPr dirty="0" err="1"/>
              <a:t>但告诉开发者它是</a:t>
            </a:r>
            <a:r>
              <a:rPr dirty="0"/>
              <a:t> AI </a:t>
            </a:r>
            <a:r>
              <a:rPr dirty="0" err="1"/>
              <a:t>生成</a:t>
            </a:r>
            <a:endParaRPr dirty="0"/>
          </a:p>
        </p:txBody>
      </p:sp>
      <p:sp>
        <p:nvSpPr>
          <p:cNvPr id="25" name="Rounded Rectangle 24"/>
          <p:cNvSpPr/>
          <p:nvPr/>
        </p:nvSpPr>
        <p:spPr>
          <a:xfrm>
            <a:off x="8549640" y="4343400"/>
            <a:ext cx="2788920" cy="685800"/>
          </a:xfrm>
          <a:prstGeom prst="roundRect">
            <a:avLst/>
          </a:prstGeom>
          <a:solidFill>
            <a:srgbClr val="FCEEE4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0" y="4526280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D66D36"/>
                </a:solidFill>
                <a:latin typeface="Microsoft YaHei"/>
              </a:defRPr>
            </a:pPr>
            <a:r>
              <a:t>用来测试过度信任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4652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069"/>
                </a:solidFill>
                <a:latin typeface="Microsoft YaHei"/>
              </a:defRPr>
            </a:pPr>
            <a:r>
              <a:t>Deep Learning-based Code Reviews：范式变革还是双刃剑？ · 论文汇报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2B49"/>
          </a:solidFill>
          <a:ln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9"/>
                </a:solidFill>
                <a:latin typeface="Microsoft YaHei"/>
              </a:defRPr>
            </a:pPr>
            <a:r>
              <a:t>实验材料：作者如何构造“可评价的问题”？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9"/>
                </a:solidFill>
                <a:latin typeface="Microsoft YaHei"/>
              </a:defRPr>
            </a:pPr>
            <a:r>
              <a:t>作者不是随机让开发者 Review，而是在程序中人工注入了可追踪的质量问题。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532120" cy="4709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" y="1482634"/>
            <a:ext cx="4800600" cy="42127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1591056"/>
            <a:ext cx="5166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>
                <a:solidFill>
                  <a:srgbClr val="5A6069"/>
                </a:solidFill>
                <a:latin typeface="Microsoft YaHei"/>
              </a:defRPr>
            </a:pPr>
            <a:r>
              <a:t>论文 Fig.1：Java / Python 中注入问题示例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234440"/>
            <a:ext cx="4617720" cy="4709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12280" y="153619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92B49"/>
                </a:solidFill>
                <a:latin typeface="Microsoft YaHei"/>
              </a:defRPr>
            </a:pPr>
            <a:r>
              <a:t>这个设计为什么重要？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084831"/>
            <a:ext cx="3886200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550">
                <a:solidFill>
                  <a:srgbClr val="1A1E23"/>
                </a:solidFill>
                <a:latin typeface="Microsoft YaHei"/>
              </a:defRPr>
            </a:pPr>
            <a:r>
              <a:t>• 如果没有“已知问题”，就很难判断 Review 是否真的有效。</a:t>
            </a:r>
          </a:p>
          <a:p>
            <a:pPr>
              <a:spcAft>
                <a:spcPts val="700"/>
              </a:spcAft>
              <a:defRPr sz="1550">
                <a:solidFill>
                  <a:srgbClr val="1A1E23"/>
                </a:solidFill>
                <a:latin typeface="Microsoft YaHei"/>
              </a:defRPr>
            </a:pPr>
            <a:r>
              <a:t>• 注入问题使得作者可以计算：开发者到底找到了多少目标问题。</a:t>
            </a:r>
          </a:p>
          <a:p>
            <a:pPr>
              <a:spcAft>
                <a:spcPts val="700"/>
              </a:spcAft>
              <a:defRPr sz="1550">
                <a:solidFill>
                  <a:srgbClr val="1A1E23"/>
                </a:solidFill>
                <a:latin typeface="Microsoft YaHei"/>
              </a:defRPr>
            </a:pPr>
            <a:r>
              <a:t>• 问题类型覆盖文档、结构、性能、逻辑等，不只是简单语法错误。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4892039"/>
            <a:ext cx="4114800" cy="694057"/>
          </a:xfrm>
          <a:prstGeom prst="roundRect">
            <a:avLst/>
          </a:prstGeom>
          <a:solidFill>
            <a:srgbClr val="FCEEE4"/>
          </a:solidFill>
          <a:ln w="11430">
            <a:solidFill>
              <a:srgbClr val="EE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16189" y="5047488"/>
            <a:ext cx="3882043" cy="3154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D66D36"/>
                </a:solidFill>
                <a:latin typeface="Microsoft YaHei"/>
              </a:defRPr>
            </a:pPr>
            <a:r>
              <a:rPr dirty="0" err="1"/>
              <a:t>这让论文从“主观观察”变成了可量化实验</a:t>
            </a:r>
            <a:r>
              <a:rPr dirty="0"/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069"/>
                </a:solidFill>
                <a:latin typeface="Microsoft YaHei"/>
              </a:defRPr>
            </a:pPr>
            <a:r>
              <a:t>Deep Learning-based Code Reviews：范式变革还是双刃剑？ · 论文汇报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2B49"/>
          </a:solidFill>
          <a:ln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9"/>
                </a:solidFill>
                <a:latin typeface="Microsoft YaHei"/>
              </a:defRPr>
            </a:pPr>
            <a:r>
              <a:t>结果 1：AI 让 Review 变长、问题变多，但覆盖范围没有明显扩大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9"/>
                </a:solidFill>
                <a:latin typeface="Microsoft YaHei"/>
              </a:defRPr>
            </a:pPr>
            <a:r>
              <a:t>这说明“评论更多”不等于“看得更全面”。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6400800" cy="2834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1" y="1481328"/>
            <a:ext cx="5989320" cy="24167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3441" y="1226427"/>
            <a:ext cx="5989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>
                <a:solidFill>
                  <a:srgbClr val="5A6069"/>
                </a:solidFill>
                <a:latin typeface="Microsoft YaHei"/>
              </a:defRPr>
            </a:pPr>
            <a:r>
              <a:rPr dirty="0" err="1"/>
              <a:t>论文</a:t>
            </a:r>
            <a:r>
              <a:rPr dirty="0"/>
              <a:t> Fig.2：三种处理下最终 Review </a:t>
            </a:r>
            <a:r>
              <a:rPr dirty="0" err="1"/>
              <a:t>的特征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7360920" y="1188720"/>
            <a:ext cx="3977639" cy="2834640"/>
          </a:xfrm>
          <a:prstGeom prst="roundRect">
            <a:avLst/>
          </a:prstGeom>
          <a:solidFill>
            <a:srgbClr val="E7F0FA"/>
          </a:solidFill>
          <a:ln w="1143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148132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92B49"/>
                </a:solidFill>
                <a:latin typeface="Microsoft YaHei"/>
              </a:defRPr>
            </a:pPr>
            <a:r>
              <a:t>如何解读这张图？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965960"/>
            <a:ext cx="333756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420">
                <a:solidFill>
                  <a:srgbClr val="1A1E23"/>
                </a:solidFill>
                <a:latin typeface="Microsoft YaHei"/>
              </a:defRPr>
            </a:pPr>
            <a:r>
              <a:rPr dirty="0"/>
              <a:t>• ACR </a:t>
            </a:r>
            <a:r>
              <a:rPr dirty="0" err="1"/>
              <a:t>报告的问题数量更多</a:t>
            </a:r>
            <a:endParaRPr dirty="0"/>
          </a:p>
          <a:p>
            <a:pPr>
              <a:spcAft>
                <a:spcPts val="700"/>
              </a:spcAft>
              <a:defRPr sz="1420">
                <a:solidFill>
                  <a:srgbClr val="1A1E23"/>
                </a:solidFill>
                <a:latin typeface="Microsoft YaHei"/>
              </a:defRPr>
            </a:pPr>
            <a:r>
              <a:rPr dirty="0"/>
              <a:t>• ACR </a:t>
            </a:r>
            <a:r>
              <a:rPr dirty="0" err="1"/>
              <a:t>的评论句子数明显更多</a:t>
            </a:r>
            <a:endParaRPr dirty="0"/>
          </a:p>
          <a:p>
            <a:pPr>
              <a:spcAft>
                <a:spcPts val="700"/>
              </a:spcAft>
              <a:defRPr sz="1420">
                <a:solidFill>
                  <a:srgbClr val="1A1E23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但代码覆盖范围没有明显增加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85800" y="4572000"/>
            <a:ext cx="10652760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800600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A1E23"/>
                </a:solidFill>
                <a:latin typeface="Microsoft YaHei"/>
              </a:defRPr>
            </a:pPr>
            <a:r>
              <a:rPr dirty="0" err="1"/>
              <a:t>我的理解：AI</a:t>
            </a:r>
            <a:r>
              <a:rPr dirty="0"/>
              <a:t> 让 Review 看起来“</a:t>
            </a:r>
            <a:r>
              <a:rPr dirty="0" err="1"/>
              <a:t>更丰富</a:t>
            </a:r>
            <a:r>
              <a:rPr dirty="0"/>
              <a:t>”，</a:t>
            </a:r>
            <a:r>
              <a:rPr dirty="0" err="1"/>
              <a:t>但这可能只是评论变多，并不代表开发者探索了更多代码位置</a:t>
            </a:r>
            <a:r>
              <a:rPr dirty="0"/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069"/>
                </a:solidFill>
                <a:latin typeface="Microsoft YaHei"/>
              </a:defRPr>
            </a:pPr>
            <a:r>
              <a:t>Deep Learning-based Code Reviews：范式变革还是双刃剑？ · 论文汇报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2B49"/>
          </a:solidFill>
          <a:ln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9"/>
                </a:solidFill>
                <a:latin typeface="Microsoft YaHei"/>
              </a:defRPr>
            </a:pPr>
            <a:r>
              <a:t>结果 2：AI 产生“盲区效应”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9"/>
                </a:solidFill>
                <a:latin typeface="Microsoft YaHei"/>
              </a:defRPr>
            </a:pPr>
            <a:r>
              <a:t>开发者会集中看 AI 标出的区域，从而降低 Review 的多样性。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3520440" cy="4434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3_ve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02743"/>
            <a:ext cx="2971800" cy="25472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14996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>
                <a:solidFill>
                  <a:srgbClr val="5A6069"/>
                </a:solidFill>
                <a:latin typeface="Microsoft YaHei"/>
              </a:defRPr>
            </a:pPr>
            <a:r>
              <a:t>论文 Fig.3：不同处理覆盖代码行的重叠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143000"/>
            <a:ext cx="3429000" cy="4434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4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783080"/>
            <a:ext cx="3035808" cy="20938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7720" y="1536192"/>
            <a:ext cx="3063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>
                <a:solidFill>
                  <a:srgbClr val="5A6069"/>
                </a:solidFill>
                <a:latin typeface="Microsoft YaHei"/>
              </a:defRPr>
            </a:pPr>
            <a:r>
              <a:t>论文 Fig.4：ACR 与 MCR 覆盖代码行示例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143000"/>
            <a:ext cx="3246120" cy="4434840"/>
          </a:xfrm>
          <a:prstGeom prst="roundRect">
            <a:avLst/>
          </a:prstGeom>
          <a:solidFill>
            <a:srgbClr val="FCEEE4"/>
          </a:solidFill>
          <a:ln w="11430">
            <a:solidFill>
              <a:srgbClr val="EE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14630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D66D36"/>
                </a:solidFill>
                <a:latin typeface="Microsoft YaHei"/>
              </a:defRPr>
            </a:pPr>
            <a:r>
              <a:t>关键现象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965960"/>
            <a:ext cx="269748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1A1E23"/>
                </a:solidFill>
                <a:latin typeface="Microsoft YaHei"/>
              </a:defRPr>
            </a:pPr>
            <a:r>
              <a:t>• 人工 Review 覆盖位置更分散</a:t>
            </a:r>
          </a:p>
          <a:p>
            <a:pPr>
              <a:spcAft>
                <a:spcPts val="700"/>
              </a:spcAft>
              <a:defRPr sz="1450">
                <a:solidFill>
                  <a:srgbClr val="1A1E23"/>
                </a:solidFill>
                <a:latin typeface="Microsoft YaHei"/>
              </a:defRPr>
            </a:pPr>
            <a:r>
              <a:t>• AI 辅助后，开发者更容易聚焦同一批位置</a:t>
            </a:r>
          </a:p>
          <a:p>
            <a:pPr>
              <a:spcAft>
                <a:spcPts val="700"/>
              </a:spcAft>
              <a:defRPr sz="1450">
                <a:solidFill>
                  <a:srgbClr val="1A1E23"/>
                </a:solidFill>
                <a:latin typeface="Microsoft YaHei"/>
              </a:defRPr>
            </a:pPr>
            <a:r>
              <a:t>• 未被 AI 提醒的区域更可能被忽略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4281" y="4777740"/>
            <a:ext cx="2882438" cy="502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4281" y="4846320"/>
            <a:ext cx="2789959" cy="2893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1">
                <a:solidFill>
                  <a:srgbClr val="192B49"/>
                </a:solidFill>
                <a:latin typeface="Microsoft YaHei"/>
              </a:defRPr>
            </a:pPr>
            <a:r>
              <a:rPr dirty="0" err="1"/>
              <a:t>这就是</a:t>
            </a:r>
            <a:r>
              <a:rPr dirty="0"/>
              <a:t> Automation Bias </a:t>
            </a:r>
            <a:r>
              <a:rPr dirty="0" err="1"/>
              <a:t>的体现</a:t>
            </a:r>
            <a:r>
              <a:rPr dirty="0"/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069"/>
                </a:solidFill>
                <a:latin typeface="Microsoft YaHei"/>
              </a:defRPr>
            </a:pPr>
            <a:r>
              <a:t>Deep Learning-based Code Reviews：范式变革还是双刃剑？ · 论文汇报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2B49"/>
          </a:solidFill>
          <a:ln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9"/>
                </a:solidFill>
                <a:latin typeface="Microsoft YaHei"/>
              </a:defRPr>
            </a:pPr>
            <a:r>
              <a:t>结果 3：AI 提高了数量，但没有明显提高“高危问题”发现率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9"/>
                </a:solidFill>
                <a:latin typeface="Microsoft YaHei"/>
              </a:defRPr>
            </a:pPr>
            <a:r>
              <a:t>这是论文最反直觉的结论之一。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4617720" cy="4297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5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554480"/>
            <a:ext cx="3657600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2040" y="13391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>
                <a:solidFill>
                  <a:srgbClr val="5A6069"/>
                </a:solidFill>
                <a:latin typeface="Microsoft YaHei"/>
              </a:defRPr>
            </a:pPr>
            <a:r>
              <a:rPr dirty="0" err="1"/>
              <a:t>论文</a:t>
            </a:r>
            <a:r>
              <a:rPr dirty="0"/>
              <a:t> Fig.5：识别注入问题的数量与比例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234440"/>
            <a:ext cx="5623560" cy="4297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89320" y="155448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92B49"/>
                </a:solidFill>
                <a:latin typeface="Microsoft YaHei"/>
              </a:defRPr>
            </a:pPr>
            <a:r>
              <a:t>作者的解释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057400"/>
            <a:ext cx="489204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530">
                <a:solidFill>
                  <a:srgbClr val="1A1E23"/>
                </a:solidFill>
                <a:latin typeface="Microsoft YaHei"/>
              </a:defRPr>
            </a:pPr>
            <a:r>
              <a:rPr dirty="0"/>
              <a:t>• ACR </a:t>
            </a:r>
            <a:r>
              <a:rPr dirty="0" err="1"/>
              <a:t>最终</a:t>
            </a:r>
            <a:r>
              <a:rPr dirty="0"/>
              <a:t> Review </a:t>
            </a:r>
            <a:r>
              <a:rPr dirty="0" err="1"/>
              <a:t>中问题数量更多</a:t>
            </a:r>
            <a:r>
              <a:rPr dirty="0"/>
              <a:t>。</a:t>
            </a:r>
          </a:p>
          <a:p>
            <a:pPr>
              <a:spcAft>
                <a:spcPts val="700"/>
              </a:spcAft>
              <a:defRPr sz="1530">
                <a:solidFill>
                  <a:srgbClr val="1A1E23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但对人工注入的高风险问题，ACR</a:t>
            </a:r>
            <a:r>
              <a:rPr dirty="0"/>
              <a:t> </a:t>
            </a:r>
            <a:r>
              <a:rPr dirty="0" err="1"/>
              <a:t>并没有显著优于</a:t>
            </a:r>
            <a:r>
              <a:rPr dirty="0"/>
              <a:t> MCR。</a:t>
            </a:r>
          </a:p>
          <a:p>
            <a:pPr>
              <a:spcAft>
                <a:spcPts val="700"/>
              </a:spcAft>
              <a:defRPr sz="1530">
                <a:solidFill>
                  <a:srgbClr val="1A1E23"/>
                </a:solidFill>
                <a:latin typeface="Microsoft YaHei"/>
              </a:defRPr>
            </a:pPr>
            <a:r>
              <a:rPr dirty="0"/>
              <a:t>• ChatGPT </a:t>
            </a:r>
            <a:r>
              <a:rPr dirty="0" err="1"/>
              <a:t>提出的额外问题往往严重度较低</a:t>
            </a:r>
            <a:r>
              <a:rPr dirty="0"/>
              <a:t>。</a:t>
            </a:r>
          </a:p>
          <a:p>
            <a:pPr>
              <a:spcAft>
                <a:spcPts val="700"/>
              </a:spcAft>
              <a:defRPr sz="1530">
                <a:solidFill>
                  <a:srgbClr val="1A1E23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因此“发现更多问题”不等于“发现更重要的问题</a:t>
            </a:r>
            <a:r>
              <a:rPr dirty="0"/>
              <a:t>”。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4663440"/>
            <a:ext cx="4892040" cy="594360"/>
          </a:xfrm>
          <a:prstGeom prst="roundRect">
            <a:avLst/>
          </a:prstGeom>
          <a:solidFill>
            <a:srgbClr val="FCEEE4"/>
          </a:solidFill>
          <a:ln w="11430">
            <a:solidFill>
              <a:srgbClr val="EE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4828032"/>
            <a:ext cx="4480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D66D36"/>
                </a:solidFill>
                <a:latin typeface="Microsoft YaHei"/>
              </a:defRPr>
            </a:pPr>
            <a:r>
              <a:t>这说明 AI 更擅长表面问题，而不是深层逻辑风险。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069"/>
                </a:solidFill>
                <a:latin typeface="Microsoft YaHei"/>
              </a:defRPr>
            </a:pPr>
            <a:r>
              <a:t>Deep Learning-based Code Reviews：范式变革还是双刃剑？ · 论文汇报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2B49"/>
          </a:solidFill>
          <a:ln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9"/>
                </a:solidFill>
                <a:latin typeface="Microsoft YaHei"/>
              </a:defRPr>
            </a:pPr>
            <a:r>
              <a:t>结果 4：AI 没有节省时间，反而带来验证成本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9"/>
                </a:solidFill>
                <a:latin typeface="Microsoft YaHei"/>
              </a:defRPr>
            </a:pPr>
            <a:r>
              <a:t>作者称这打破了自动化 Review 的一个常见假设。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074920" cy="4434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6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463040"/>
            <a:ext cx="4572000" cy="30302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13304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>
                <a:solidFill>
                  <a:srgbClr val="5A6069"/>
                </a:solidFill>
                <a:latin typeface="Microsoft YaHei"/>
              </a:defRPr>
            </a:pPr>
            <a:r>
              <a:rPr dirty="0" err="1"/>
              <a:t>论文</a:t>
            </a:r>
            <a:r>
              <a:rPr dirty="0"/>
              <a:t> Fig.6：三种处理下 Review </a:t>
            </a:r>
            <a:r>
              <a:rPr dirty="0" err="1"/>
              <a:t>时间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5212080" cy="4434840"/>
          </a:xfrm>
          <a:prstGeom prst="roundRect">
            <a:avLst/>
          </a:prstGeom>
          <a:solidFill>
            <a:srgbClr val="E7F0FA"/>
          </a:solidFill>
          <a:ln w="1143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44475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92B49"/>
                </a:solidFill>
                <a:latin typeface="Microsoft YaHei"/>
              </a:defRPr>
            </a:pPr>
            <a:r>
              <a:t>为什么没变快？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93392"/>
            <a:ext cx="466344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580">
                <a:solidFill>
                  <a:srgbClr val="1A1E23"/>
                </a:solidFill>
                <a:latin typeface="Microsoft YaHei"/>
              </a:defRPr>
            </a:pPr>
            <a:r>
              <a:t>• 开发者需要读 AI 评论。</a:t>
            </a:r>
          </a:p>
          <a:p>
            <a:pPr>
              <a:spcAft>
                <a:spcPts val="700"/>
              </a:spcAft>
              <a:defRPr sz="1580">
                <a:solidFill>
                  <a:srgbClr val="1A1E23"/>
                </a:solidFill>
                <a:latin typeface="Microsoft YaHei"/>
              </a:defRPr>
            </a:pPr>
            <a:r>
              <a:t>• 需要理解 AI 为什么这么说。</a:t>
            </a:r>
          </a:p>
          <a:p>
            <a:pPr>
              <a:spcAft>
                <a:spcPts val="700"/>
              </a:spcAft>
              <a:defRPr sz="1580">
                <a:solidFill>
                  <a:srgbClr val="1A1E23"/>
                </a:solidFill>
                <a:latin typeface="Microsoft YaHei"/>
              </a:defRPr>
            </a:pPr>
            <a:r>
              <a:t>• 还要回到代码中验证评论是否正确。</a:t>
            </a:r>
          </a:p>
          <a:p>
            <a:pPr>
              <a:spcAft>
                <a:spcPts val="700"/>
              </a:spcAft>
              <a:defRPr sz="1580">
                <a:solidFill>
                  <a:srgbClr val="1A1E23"/>
                </a:solidFill>
                <a:latin typeface="Microsoft YaHei"/>
              </a:defRPr>
            </a:pPr>
            <a:r>
              <a:t>• 验证过程本身就是额外工作。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4526280"/>
            <a:ext cx="4617720" cy="7315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4700016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30" b="1">
                <a:solidFill>
                  <a:srgbClr val="1A1E23"/>
                </a:solidFill>
                <a:latin typeface="Microsoft YaHei"/>
              </a:defRPr>
            </a:pPr>
            <a:r>
              <a:t>我的理解：Review 的核心不是“拿到答案”，而是“建立代码理解”。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069"/>
                </a:solidFill>
                <a:latin typeface="Microsoft YaHei"/>
              </a:defRPr>
            </a:pPr>
            <a:r>
              <a:t>Deep Learning-based Code Reviews：范式变革还是双刃剑？ · 论文汇报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2B49"/>
          </a:solidFill>
          <a:ln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9"/>
                </a:solidFill>
                <a:latin typeface="Microsoft YaHei"/>
              </a:defRPr>
            </a:pPr>
            <a:r>
              <a:t>结果 5：AI 没有明显提高开发者信心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9"/>
                </a:solidFill>
                <a:latin typeface="Microsoft YaHei"/>
              </a:defRPr>
            </a:pPr>
            <a:r>
              <a:t>即使给出“理想 AI”评论，开发者的信心也没有显著提升。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166360" cy="4480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table5_co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" y="1972148"/>
            <a:ext cx="4709160" cy="29016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1563624"/>
            <a:ext cx="4709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>
                <a:solidFill>
                  <a:srgbClr val="5A6069"/>
                </a:solidFill>
                <a:latin typeface="Microsoft YaHei"/>
              </a:defRPr>
            </a:pPr>
            <a:r>
              <a:t>论文 Table V：信心回归模型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029200" cy="4480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53619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92B49"/>
                </a:solidFill>
                <a:latin typeface="Microsoft YaHei"/>
              </a:defRPr>
            </a:pPr>
            <a:r>
              <a:t>作者的解释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57400"/>
            <a:ext cx="457200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540">
                <a:solidFill>
                  <a:srgbClr val="1A1E23"/>
                </a:solidFill>
                <a:latin typeface="Microsoft YaHei"/>
              </a:defRPr>
            </a:pPr>
            <a:r>
              <a:t>• AI 评论能指出可疑位置。</a:t>
            </a:r>
          </a:p>
          <a:p>
            <a:pPr>
              <a:spcAft>
                <a:spcPts val="700"/>
              </a:spcAft>
              <a:defRPr sz="1540">
                <a:solidFill>
                  <a:srgbClr val="1A1E23"/>
                </a:solidFill>
                <a:latin typeface="Microsoft YaHei"/>
              </a:defRPr>
            </a:pPr>
            <a:r>
              <a:t>• 但它不一定帮助开发者理解整个程序。</a:t>
            </a:r>
          </a:p>
          <a:p>
            <a:pPr>
              <a:spcAft>
                <a:spcPts val="700"/>
              </a:spcAft>
              <a:defRPr sz="1540">
                <a:solidFill>
                  <a:srgbClr val="1A1E23"/>
                </a:solidFill>
                <a:latin typeface="Microsoft YaHei"/>
              </a:defRPr>
            </a:pPr>
            <a:r>
              <a:t>• 开发者真正的信心来自对代码逻辑的理解。</a:t>
            </a:r>
          </a:p>
          <a:p>
            <a:pPr>
              <a:spcAft>
                <a:spcPts val="700"/>
              </a:spcAft>
              <a:defRPr sz="1540">
                <a:solidFill>
                  <a:srgbClr val="1A1E23"/>
                </a:solidFill>
                <a:latin typeface="Microsoft YaHei"/>
              </a:defRPr>
            </a:pPr>
            <a:r>
              <a:t>• 所以 AI 的“结论”不能替代人的理解过程。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4709160"/>
            <a:ext cx="4526280" cy="594360"/>
          </a:xfrm>
          <a:prstGeom prst="roundRect">
            <a:avLst/>
          </a:prstGeom>
          <a:solidFill>
            <a:srgbClr val="FCEEE4"/>
          </a:solidFill>
          <a:ln w="11430">
            <a:solidFill>
              <a:srgbClr val="EE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4792611"/>
            <a:ext cx="4343400" cy="5109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60" b="1">
                <a:solidFill>
                  <a:srgbClr val="D66D36"/>
                </a:solidFill>
                <a:latin typeface="Microsoft YaHei"/>
              </a:defRPr>
            </a:pPr>
            <a:r>
              <a:rPr dirty="0" err="1"/>
              <a:t>这也是为什么作者建议：AI</a:t>
            </a:r>
            <a:r>
              <a:rPr dirty="0"/>
              <a:t> </a:t>
            </a:r>
            <a:r>
              <a:rPr dirty="0" err="1"/>
              <a:t>更适合作为人工</a:t>
            </a:r>
            <a:r>
              <a:rPr dirty="0"/>
              <a:t> Review </a:t>
            </a:r>
            <a:r>
              <a:rPr dirty="0" err="1"/>
              <a:t>后的补充</a:t>
            </a:r>
            <a:r>
              <a:rPr dirty="0"/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069"/>
                </a:solidFill>
                <a:latin typeface="Microsoft YaHei"/>
              </a:defRPr>
            </a:pPr>
            <a:r>
              <a:t>Deep Learning-based Code Reviews：范式变革还是双刃剑？ · 论文汇报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2B49"/>
          </a:solidFill>
          <a:ln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9"/>
                </a:solidFill>
                <a:latin typeface="Microsoft YaHei"/>
              </a:defRPr>
            </a:pPr>
            <a:r>
              <a:t>作者建议：把 AI 当作补充，而不是 Review 起点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9"/>
                </a:solidFill>
                <a:latin typeface="Microsoft YaHei"/>
              </a:defRPr>
            </a:pPr>
            <a:r>
              <a:t>论文最后给出了对开发者、工具设计者和研究者的建议。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1060704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97280" y="1581912"/>
            <a:ext cx="804672" cy="256032"/>
          </a:xfrm>
          <a:prstGeom prst="roundRect">
            <a:avLst/>
          </a:prstGeom>
          <a:solidFill>
            <a:srgbClr val="223D67"/>
          </a:solidFill>
          <a:ln>
            <a:solidFill>
              <a:srgbClr val="223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2144" y="1609344"/>
            <a:ext cx="6949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对开发者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600200"/>
            <a:ext cx="79552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1E23"/>
                </a:solidFill>
                <a:latin typeface="Microsoft YaHei"/>
              </a:defRPr>
            </a:pPr>
            <a:r>
              <a:t>先人工 Review，再查看 AI 评论，避免被 AI 先入为主地引导。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43200"/>
            <a:ext cx="1060704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97280" y="2999232"/>
            <a:ext cx="1207008" cy="256032"/>
          </a:xfrm>
          <a:prstGeom prst="round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52144" y="3026664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对工具设计者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017520"/>
            <a:ext cx="79552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1E23"/>
                </a:solidFill>
                <a:latin typeface="Microsoft YaHei"/>
              </a:defRPr>
            </a:pPr>
            <a:r>
              <a:t>减少冗长评论，优先聚焦高严重度问题，而不是大量低风险建议。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1060704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97280" y="4416552"/>
            <a:ext cx="804672" cy="256032"/>
          </a:xfrm>
          <a:prstGeom prst="roundRect">
            <a:avLst/>
          </a:prstGeom>
          <a:solidFill>
            <a:srgbClr val="408E63"/>
          </a:solidFill>
          <a:ln>
            <a:solidFill>
              <a:srgbClr val="408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52144" y="4443984"/>
            <a:ext cx="6949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对研究者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434840"/>
            <a:ext cx="79552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A1E23"/>
                </a:solidFill>
                <a:latin typeface="Microsoft YaHei"/>
              </a:defRPr>
            </a:pPr>
            <a:r>
              <a:t>未来要更多研究 AI 工具对开发者行为的影响，而不是只测模型指标。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623560"/>
            <a:ext cx="9966960" cy="502920"/>
          </a:xfrm>
          <a:prstGeom prst="roundRect">
            <a:avLst/>
          </a:prstGeom>
          <a:solidFill>
            <a:srgbClr val="E7F0FA"/>
          </a:solidFill>
          <a:ln w="1143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5742432"/>
            <a:ext cx="9418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92B49"/>
                </a:solidFill>
                <a:latin typeface="Microsoft YaHei"/>
              </a:defRPr>
            </a:pPr>
            <a:r>
              <a:t>这页是课程汇报中很重要的“落地意义”：论文不是反对 AI，而是要求重新设计人机协同流程。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069"/>
                </a:solidFill>
                <a:latin typeface="Microsoft YaHei"/>
              </a:defRPr>
            </a:pPr>
            <a:r>
              <a:t>Deep Learning-based Code Reviews：范式变革还是双刃剑？ · 论文汇报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2B49"/>
          </a:solidFill>
          <a:ln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9"/>
                </a:solidFill>
                <a:latin typeface="Microsoft YaHei"/>
              </a:defRPr>
            </a:pPr>
            <a:r>
              <a:t>为什么这篇论文能发 Top？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9"/>
                </a:solidFill>
                <a:latin typeface="Microsoft YaHei"/>
              </a:defRPr>
            </a:pPr>
            <a:r>
              <a:t>我认为它的价值不在于提出新模型，而在于提出并验证了一个重要的人机协同问题。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49834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3677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92B49"/>
                </a:solidFill>
                <a:latin typeface="Microsoft YaHei"/>
              </a:defRPr>
            </a:pPr>
            <a:r>
              <a:t>问题重要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20" b="0">
                <a:solidFill>
                  <a:srgbClr val="1A1E23"/>
                </a:solidFill>
                <a:latin typeface="Microsoft YaHei"/>
              </a:defRPr>
            </a:pPr>
            <a:r>
              <a:t>AI Review 已经进入工业界，研究它的真实影响具有现实紧迫性。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417320"/>
            <a:ext cx="49834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79" y="163677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D66D36"/>
                </a:solidFill>
                <a:latin typeface="Microsoft YaHei"/>
              </a:defRPr>
            </a:pPr>
            <a:r>
              <a:t>设计严谨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075688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20" b="0">
                <a:solidFill>
                  <a:srgbClr val="1A1E23"/>
                </a:solidFill>
                <a:latin typeface="Microsoft YaHei"/>
              </a:defRPr>
            </a:pPr>
            <a:r>
              <a:t>受控实验 + 真实开发者 + 三种 treatment + 行为记录 + 统计分析。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91839"/>
            <a:ext cx="49834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51129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92B49"/>
                </a:solidFill>
                <a:latin typeface="Microsoft YaHei"/>
              </a:defRPr>
            </a:pPr>
            <a:r>
              <a:t>结果反直觉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950207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20" b="0">
                <a:solidFill>
                  <a:srgbClr val="1A1E23"/>
                </a:solidFill>
                <a:latin typeface="Microsoft YaHei"/>
              </a:defRPr>
            </a:pPr>
            <a:r>
              <a:t>AI 没有节省时间，也没有显著提高高危问题发现和信心。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291839"/>
            <a:ext cx="49834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79" y="351129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D66D36"/>
                </a:solidFill>
                <a:latin typeface="Microsoft YaHei"/>
              </a:defRPr>
            </a:pPr>
            <a:r>
              <a:t>理论延展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3950207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20" b="0">
                <a:solidFill>
                  <a:srgbClr val="1A1E23"/>
                </a:solidFill>
                <a:latin typeface="Microsoft YaHei"/>
              </a:defRPr>
            </a:pPr>
            <a:r>
              <a:t>从软件工程延伸到 Human-AI Collaboration 与 Automation Bias。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5486400"/>
            <a:ext cx="9509760" cy="621792"/>
          </a:xfrm>
          <a:prstGeom prst="roundRect">
            <a:avLst/>
          </a:prstGeom>
          <a:solidFill>
            <a:srgbClr val="FCEEE4"/>
          </a:solidFill>
          <a:ln w="11430">
            <a:solidFill>
              <a:srgbClr val="EE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00200" y="5669280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D66D36"/>
                </a:solidFill>
                <a:latin typeface="Microsoft YaHei"/>
              </a:defRPr>
            </a:pPr>
            <a:r>
              <a:t>我的一句话总结：它把“AI 能做什么”转成了“AI 会让人怎样工作”。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069"/>
                </a:solidFill>
                <a:latin typeface="Microsoft YaHei"/>
              </a:defRPr>
            </a:pPr>
            <a:r>
              <a:t>Deep Learning-based Code Reviews：范式变革还是双刃剑？ · 论文汇报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2B49"/>
          </a:solidFill>
          <a:ln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9"/>
                </a:solidFill>
                <a:latin typeface="Microsoft YaHei"/>
              </a:defRPr>
            </a:pPr>
            <a:r>
              <a:t>局限性与可继续研究的方向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9"/>
                </a:solidFill>
                <a:latin typeface="Microsoft YaHei"/>
              </a:defRPr>
            </a:pPr>
            <a:r>
              <a:t>这页用于体现我们不是只复述结论，也能看到论文边界。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074920" cy="4572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5087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92B49"/>
                </a:solidFill>
                <a:latin typeface="Microsoft YaHei"/>
              </a:defRPr>
            </a:pPr>
            <a:r>
              <a:t>论文局限性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448056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550">
                <a:solidFill>
                  <a:srgbClr val="1A1E23"/>
                </a:solidFill>
                <a:latin typeface="Microsoft YaHei"/>
              </a:defRPr>
            </a:pPr>
            <a:r>
              <a:t>• 参与者只有 29 名，实验规模有限。</a:t>
            </a:r>
          </a:p>
          <a:p>
            <a:pPr>
              <a:spcAft>
                <a:spcPts val="700"/>
              </a:spcAft>
              <a:defRPr sz="1550">
                <a:solidFill>
                  <a:srgbClr val="1A1E23"/>
                </a:solidFill>
                <a:latin typeface="Microsoft YaHei"/>
              </a:defRPr>
            </a:pPr>
            <a:r>
              <a:t>• 对象项目较小，与大型工业系统仍有差距。</a:t>
            </a:r>
          </a:p>
          <a:p>
            <a:pPr>
              <a:spcAft>
                <a:spcPts val="700"/>
              </a:spcAft>
              <a:defRPr sz="1550">
                <a:solidFill>
                  <a:srgbClr val="1A1E23"/>
                </a:solidFill>
                <a:latin typeface="Microsoft YaHei"/>
              </a:defRPr>
            </a:pPr>
            <a:r>
              <a:t>• 使用的是当时的 GPT-4，未来模型能力可能变化。</a:t>
            </a:r>
          </a:p>
          <a:p>
            <a:pPr>
              <a:spcAft>
                <a:spcPts val="700"/>
              </a:spcAft>
              <a:defRPr sz="1550">
                <a:solidFill>
                  <a:srgbClr val="1A1E23"/>
                </a:solidFill>
                <a:latin typeface="Microsoft YaHei"/>
              </a:defRPr>
            </a:pPr>
            <a:r>
              <a:t>• 实验时间较短，无法观察长期使用后的行为适应。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5074920" cy="4572000"/>
          </a:xfrm>
          <a:prstGeom prst="roundRect">
            <a:avLst/>
          </a:prstGeom>
          <a:solidFill>
            <a:srgbClr val="E7F0FA"/>
          </a:solidFill>
          <a:ln w="1143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5087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92B49"/>
                </a:solidFill>
                <a:latin typeface="Microsoft YaHei"/>
              </a:defRPr>
            </a:pPr>
            <a:r>
              <a:t>可能的后续研究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48056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550">
                <a:solidFill>
                  <a:srgbClr val="1A1E23"/>
                </a:solidFill>
                <a:latin typeface="Microsoft YaHei"/>
              </a:defRPr>
            </a:pPr>
            <a:r>
              <a:t>• 更大规模工业项目中的 AI Review 实验。</a:t>
            </a:r>
          </a:p>
          <a:p>
            <a:pPr>
              <a:spcAft>
                <a:spcPts val="700"/>
              </a:spcAft>
              <a:defRPr sz="1550">
                <a:solidFill>
                  <a:srgbClr val="1A1E23"/>
                </a:solidFill>
                <a:latin typeface="Microsoft YaHei"/>
              </a:defRPr>
            </a:pPr>
            <a:r>
              <a:t>• 比较不同 LLM 或不同提示方式对行为的影响。</a:t>
            </a:r>
          </a:p>
          <a:p>
            <a:pPr>
              <a:spcAft>
                <a:spcPts val="700"/>
              </a:spcAft>
              <a:defRPr sz="1550">
                <a:solidFill>
                  <a:srgbClr val="1A1E23"/>
                </a:solidFill>
                <a:latin typeface="Microsoft YaHei"/>
              </a:defRPr>
            </a:pPr>
            <a:r>
              <a:t>• 研究“先人工后 AI”流程是否能降低盲区效应。</a:t>
            </a:r>
          </a:p>
          <a:p>
            <a:pPr>
              <a:spcAft>
                <a:spcPts val="700"/>
              </a:spcAft>
              <a:defRPr sz="1550">
                <a:solidFill>
                  <a:srgbClr val="1A1E23"/>
                </a:solidFill>
                <a:latin typeface="Microsoft YaHei"/>
              </a:defRPr>
            </a:pPr>
            <a:r>
              <a:t>• 设计能解释原因、而不只是给结论的 AI Review 工具。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069"/>
                </a:solidFill>
                <a:latin typeface="Microsoft YaHei"/>
              </a:defRPr>
            </a:pPr>
            <a:r>
              <a:t>Deep Learning-based Code Reviews：范式变革还是双刃剑？ · 论文汇报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2B49"/>
          </a:solidFill>
          <a:ln>
            <a:solidFill>
              <a:srgbClr val="19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D66D36"/>
          </a:solidFill>
          <a:ln>
            <a:solidFill>
              <a:srgbClr val="D6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92B49"/>
                </a:solidFill>
                <a:latin typeface="Microsoft YaHei"/>
              </a:defRPr>
            </a:pPr>
            <a:r>
              <a:t>总结：AI 改变了代码审查，但它确实是一把“双刃剑”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4937760" cy="3200400"/>
          </a:xfrm>
          <a:prstGeom prst="roundRect">
            <a:avLst/>
          </a:prstGeom>
          <a:solidFill>
            <a:srgbClr val="E7F0FA"/>
          </a:solidFill>
          <a:ln w="1143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17627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92B49"/>
                </a:solidFill>
                <a:latin typeface="Microsoft YaHei"/>
              </a:defRPr>
            </a:pPr>
            <a:r>
              <a:t>范式变革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24912"/>
            <a:ext cx="429768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1E23"/>
                </a:solidFill>
                <a:latin typeface="Microsoft YaHei"/>
              </a:defRPr>
            </a:pPr>
            <a:r>
              <a:t>• AI 可以快速给出 Review 建议</a:t>
            </a:r>
          </a:p>
          <a:p>
            <a:pPr>
              <a:spcAft>
                <a:spcPts val="700"/>
              </a:spcAft>
              <a:defRPr sz="1600">
                <a:solidFill>
                  <a:srgbClr val="1A1E23"/>
                </a:solidFill>
                <a:latin typeface="Microsoft YaHei"/>
              </a:defRPr>
            </a:pPr>
            <a:r>
              <a:t>• 能发现更多低风险问题</a:t>
            </a:r>
          </a:p>
          <a:p>
            <a:pPr>
              <a:spcAft>
                <a:spcPts val="700"/>
              </a:spcAft>
              <a:defRPr sz="1600">
                <a:solidFill>
                  <a:srgbClr val="1A1E23"/>
                </a:solidFill>
                <a:latin typeface="Microsoft YaHei"/>
              </a:defRPr>
            </a:pPr>
            <a:r>
              <a:t>• 降低初级 Review 的门槛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74519"/>
            <a:ext cx="4937760" cy="3200400"/>
          </a:xfrm>
          <a:prstGeom prst="roundRect">
            <a:avLst/>
          </a:prstGeom>
          <a:solidFill>
            <a:srgbClr val="FCEEE4"/>
          </a:solidFill>
          <a:ln w="11430">
            <a:solidFill>
              <a:srgbClr val="EE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217627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D66D36"/>
                </a:solidFill>
                <a:latin typeface="Microsoft YaHei"/>
              </a:defRPr>
            </a:pPr>
            <a:r>
              <a:t>双刃剑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724912"/>
            <a:ext cx="429768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1E23"/>
                </a:solidFill>
                <a:latin typeface="Microsoft YaHei"/>
              </a:defRPr>
            </a:pPr>
            <a:r>
              <a:t>• 可能造成过度信任</a:t>
            </a:r>
          </a:p>
          <a:p>
            <a:pPr>
              <a:spcAft>
                <a:spcPts val="700"/>
              </a:spcAft>
              <a:defRPr sz="1600">
                <a:solidFill>
                  <a:srgbClr val="1A1E23"/>
                </a:solidFill>
                <a:latin typeface="Microsoft YaHei"/>
              </a:defRPr>
            </a:pPr>
            <a:r>
              <a:t>• 会产生注意力盲区</a:t>
            </a:r>
          </a:p>
          <a:p>
            <a:pPr>
              <a:spcAft>
                <a:spcPts val="700"/>
              </a:spcAft>
              <a:defRPr sz="1600">
                <a:solidFill>
                  <a:srgbClr val="1A1E23"/>
                </a:solidFill>
                <a:latin typeface="Microsoft YaHei"/>
              </a:defRPr>
            </a:pPr>
            <a:r>
              <a:t>• 不一定节省时间或提升信心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9873" y="5578669"/>
            <a:ext cx="10062556" cy="548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3960" y="5732459"/>
            <a:ext cx="9631680" cy="330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50" b="1">
                <a:solidFill>
                  <a:srgbClr val="1A1E23"/>
                </a:solidFill>
                <a:latin typeface="Microsoft YaHei"/>
              </a:defRPr>
            </a:pPr>
            <a:r>
              <a:rPr dirty="0" err="1"/>
              <a:t>最终理解：未来的关键不是“AI</a:t>
            </a:r>
            <a:r>
              <a:rPr dirty="0"/>
              <a:t> </a:t>
            </a:r>
            <a:r>
              <a:rPr dirty="0" err="1"/>
              <a:t>替代</a:t>
            </a:r>
            <a:r>
              <a:rPr dirty="0"/>
              <a:t> Reviewer”，</a:t>
            </a:r>
            <a:r>
              <a:rPr dirty="0" err="1"/>
              <a:t>而是“如何设计更好的</a:t>
            </a:r>
            <a:r>
              <a:rPr dirty="0"/>
              <a:t> Human-AI Collaboration”。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86868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1">
                <a:solidFill>
                  <a:srgbClr val="D66D36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069"/>
                </a:solidFill>
                <a:latin typeface="Microsoft YaHei"/>
              </a:defRPr>
            </a:pPr>
            <a:r>
              <a:t>Deep Learning-based Code Reviews：范式变革还是双刃剑？ · 论文汇报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1072</Words>
  <Application>Microsoft Office PowerPoint</Application>
  <PresentationFormat>宽屏</PresentationFormat>
  <Paragraphs>217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lin zhan</cp:lastModifiedBy>
  <cp:revision>3</cp:revision>
  <dcterms:created xsi:type="dcterms:W3CDTF">2013-01-27T09:14:16Z</dcterms:created>
  <dcterms:modified xsi:type="dcterms:W3CDTF">2026-05-11T03:05:33Z</dcterms:modified>
  <cp:category/>
</cp:coreProperties>
</file>